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1"/>
  </p:notesMasterIdLst>
  <p:sldIdLst>
    <p:sldId id="256" r:id="rId2"/>
    <p:sldId id="258" r:id="rId3"/>
    <p:sldId id="259" r:id="rId4"/>
    <p:sldId id="260" r:id="rId5"/>
    <p:sldId id="261" r:id="rId6"/>
    <p:sldId id="262" r:id="rId7"/>
    <p:sldId id="264" r:id="rId8"/>
    <p:sldId id="266" r:id="rId9"/>
    <p:sldId id="267" r:id="rId1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5" d="100"/>
          <a:sy n="145" d="100"/>
        </p:scale>
        <p:origin x="100" y="108"/>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01940095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4ab7af695d_1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4ab7af695d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34ab7af695d_1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4ab7af695d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4ab7af695d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4ab7af695d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4ab7af695d_1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4ab7af695d_1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4ab7af695d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4ab7af695d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4ab7af695d_1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4ab7af695d_1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4ab7af695d_1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4ab7af695d_1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4ab7af695d_1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4ab7af695d_1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subTitle" idx="1"/>
          </p:nvPr>
        </p:nvSpPr>
        <p:spPr>
          <a:xfrm>
            <a:off x="1400700" y="220075"/>
            <a:ext cx="6087000" cy="792600"/>
          </a:xfrm>
          <a:prstGeom prst="rect">
            <a:avLst/>
          </a:prstGeom>
        </p:spPr>
        <p:txBody>
          <a:bodyPr spcFirstLastPara="1" wrap="square" lIns="91425" tIns="91425" rIns="91425" bIns="91425" anchor="t" anchorCtr="0">
            <a:noAutofit/>
          </a:bodyPr>
          <a:lstStyle/>
          <a:p>
            <a:pPr marL="0" lvl="0" indent="0" algn="ctr" rtl="0">
              <a:lnSpc>
                <a:spcPct val="80000"/>
              </a:lnSpc>
              <a:spcBef>
                <a:spcPts val="0"/>
              </a:spcBef>
              <a:spcAft>
                <a:spcPts val="0"/>
              </a:spcAft>
              <a:buClr>
                <a:schemeClr val="dk1"/>
              </a:buClr>
              <a:buSzPts val="605"/>
              <a:buFont typeface="Arial"/>
              <a:buNone/>
            </a:pPr>
            <a:r>
              <a:rPr lang="en" sz="2200" b="1" dirty="0">
                <a:solidFill>
                  <a:schemeClr val="dk1"/>
                </a:solidFill>
                <a:latin typeface="Times New Roman" panose="02020603050405020304" pitchFamily="18" charset="0"/>
                <a:ea typeface="Times New Roman"/>
                <a:cs typeface="Times New Roman" panose="02020603050405020304" pitchFamily="18" charset="0"/>
                <a:sym typeface="Times New Roman"/>
              </a:rPr>
              <a:t>NATIONAL ENGINEERING COLLEGE </a:t>
            </a:r>
            <a:br>
              <a:rPr lang="en" sz="2200" b="1" dirty="0">
                <a:solidFill>
                  <a:schemeClr val="dk1"/>
                </a:solidFill>
                <a:latin typeface="Times New Roman" panose="02020603050405020304" pitchFamily="18" charset="0"/>
                <a:ea typeface="Times New Roman"/>
                <a:cs typeface="Times New Roman" panose="02020603050405020304" pitchFamily="18" charset="0"/>
                <a:sym typeface="Times New Roman"/>
              </a:rPr>
            </a:br>
            <a:r>
              <a:rPr lang="en" sz="1770" dirty="0">
                <a:solidFill>
                  <a:schemeClr val="dk1"/>
                </a:solidFill>
                <a:latin typeface="Times New Roman" panose="02020603050405020304" pitchFamily="18" charset="0"/>
                <a:ea typeface="Times New Roman"/>
                <a:cs typeface="Times New Roman" panose="02020603050405020304" pitchFamily="18" charset="0"/>
                <a:sym typeface="Times New Roman"/>
              </a:rPr>
              <a:t>K.R.NAGAR, KOVILPATTI - 628 503</a:t>
            </a:r>
            <a:br>
              <a:rPr lang="en" sz="2200" dirty="0">
                <a:solidFill>
                  <a:schemeClr val="dk1"/>
                </a:solidFill>
                <a:latin typeface="Times New Roman" panose="02020603050405020304" pitchFamily="18" charset="0"/>
                <a:ea typeface="Times New Roman"/>
                <a:cs typeface="Times New Roman" panose="02020603050405020304" pitchFamily="18" charset="0"/>
                <a:sym typeface="Times New Roman"/>
              </a:rPr>
            </a:br>
            <a:endParaRPr sz="22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lvl="0" indent="0" algn="l" rtl="0">
              <a:lnSpc>
                <a:spcPct val="80000"/>
              </a:lnSpc>
              <a:spcBef>
                <a:spcPts val="0"/>
              </a:spcBef>
              <a:spcAft>
                <a:spcPts val="0"/>
              </a:spcAft>
              <a:buSzPts val="605"/>
              <a:buNone/>
            </a:pPr>
            <a:endParaRPr sz="1540" dirty="0">
              <a:latin typeface="Times New Roman" panose="02020603050405020304" pitchFamily="18" charset="0"/>
              <a:cs typeface="Times New Roman" panose="02020603050405020304" pitchFamily="18" charset="0"/>
            </a:endParaRPr>
          </a:p>
        </p:txBody>
      </p:sp>
      <p:pic>
        <p:nvPicPr>
          <p:cNvPr id="55" name="Google Shape;55;p13"/>
          <p:cNvPicPr preferRelativeResize="0"/>
          <p:nvPr/>
        </p:nvPicPr>
        <p:blipFill>
          <a:blip r:embed="rId3">
            <a:alphaModFix/>
          </a:blip>
          <a:stretch>
            <a:fillRect/>
          </a:stretch>
        </p:blipFill>
        <p:spPr>
          <a:xfrm>
            <a:off x="643700" y="242613"/>
            <a:ext cx="757000" cy="747525"/>
          </a:xfrm>
          <a:prstGeom prst="rect">
            <a:avLst/>
          </a:prstGeom>
          <a:noFill/>
          <a:ln>
            <a:noFill/>
          </a:ln>
        </p:spPr>
      </p:pic>
      <p:sp>
        <p:nvSpPr>
          <p:cNvPr id="56" name="Google Shape;56;p13"/>
          <p:cNvSpPr txBox="1"/>
          <p:nvPr/>
        </p:nvSpPr>
        <p:spPr>
          <a:xfrm>
            <a:off x="1438668" y="1244154"/>
            <a:ext cx="6196200" cy="923299"/>
          </a:xfrm>
          <a:prstGeom prst="rect">
            <a:avLst/>
          </a:prstGeom>
          <a:noFill/>
          <a:ln>
            <a:noFill/>
          </a:ln>
        </p:spPr>
        <p:txBody>
          <a:bodyPr spcFirstLastPara="1" wrap="square" lIns="91425" tIns="91425" rIns="91425" bIns="91425" anchor="t" anchorCtr="0">
            <a:spAutoFit/>
          </a:bodyPr>
          <a:lstStyle/>
          <a:p>
            <a:pPr algn="ctr"/>
            <a:r>
              <a:rPr lang="en-US" sz="2400" b="1" dirty="0">
                <a:solidFill>
                  <a:schemeClr val="dk1"/>
                </a:solidFill>
                <a:latin typeface="Times New Roman" panose="02020603050405020304" pitchFamily="18" charset="0"/>
                <a:cs typeface="Times New Roman" panose="02020603050405020304" pitchFamily="18" charset="0"/>
              </a:rPr>
              <a:t>23AD46C- Fundamentals of Data Science and Analytics</a:t>
            </a:r>
          </a:p>
        </p:txBody>
      </p:sp>
      <p:sp>
        <p:nvSpPr>
          <p:cNvPr id="58" name="Google Shape;58;p13"/>
          <p:cNvSpPr txBox="1"/>
          <p:nvPr/>
        </p:nvSpPr>
        <p:spPr>
          <a:xfrm>
            <a:off x="5534845" y="3126663"/>
            <a:ext cx="32868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a:solidFill>
                  <a:schemeClr val="dk1"/>
                </a:solidFill>
                <a:latin typeface="Times New Roman" panose="02020603050405020304" pitchFamily="18" charset="0"/>
                <a:ea typeface="Times New Roman"/>
                <a:cs typeface="Times New Roman" panose="02020603050405020304" pitchFamily="18" charset="0"/>
                <a:sym typeface="Times New Roman"/>
              </a:rPr>
              <a:t>TEAM MEMBERS:</a:t>
            </a:r>
            <a:endParaRPr sz="170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59" name="Google Shape;59;p13"/>
          <p:cNvSpPr txBox="1"/>
          <p:nvPr/>
        </p:nvSpPr>
        <p:spPr>
          <a:xfrm>
            <a:off x="702725" y="3135450"/>
            <a:ext cx="35439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a:solidFill>
                  <a:schemeClr val="dk1"/>
                </a:solidFill>
                <a:latin typeface="Times New Roman" panose="02020603050405020304" pitchFamily="18" charset="0"/>
                <a:ea typeface="Times New Roman"/>
                <a:cs typeface="Times New Roman" panose="02020603050405020304" pitchFamily="18" charset="0"/>
                <a:sym typeface="Times New Roman"/>
              </a:rPr>
              <a:t>PROJECT COORDINATOR:</a:t>
            </a:r>
            <a:endParaRPr sz="170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60" name="Google Shape;60;p13"/>
          <p:cNvSpPr txBox="1"/>
          <p:nvPr/>
        </p:nvSpPr>
        <p:spPr>
          <a:xfrm>
            <a:off x="5534845" y="3547418"/>
            <a:ext cx="3227650" cy="553968"/>
          </a:xfrm>
          <a:prstGeom prst="rect">
            <a:avLst/>
          </a:prstGeom>
          <a:noFill/>
          <a:ln>
            <a:noFill/>
          </a:ln>
        </p:spPr>
        <p:txBody>
          <a:bodyPr spcFirstLastPara="1" wrap="square" lIns="91425" tIns="91425" rIns="91425" bIns="91425" anchor="t" anchorCtr="0">
            <a:spAutoFit/>
          </a:bodyPr>
          <a:lstStyle/>
          <a:p>
            <a:pPr marL="0" indent="0" algn="l">
              <a:buNone/>
            </a:pPr>
            <a:r>
              <a:rPr lang="en-US" sz="1200" dirty="0">
                <a:solidFill>
                  <a:srgbClr val="FF0000"/>
                </a:solidFill>
                <a:latin typeface="Times New Roman" panose="02020603050405020304" pitchFamily="18" charset="0"/>
                <a:ea typeface="Source Sans Pro Bold" pitchFamily="34" charset="-122"/>
                <a:cs typeface="Times New Roman" panose="02020603050405020304" pitchFamily="18" charset="0"/>
              </a:rPr>
              <a:t>Prakash.G-2317014</a:t>
            </a:r>
          </a:p>
          <a:p>
            <a:pPr marL="0" indent="0" algn="l">
              <a:buNone/>
            </a:pPr>
            <a:r>
              <a:rPr lang="en-US" sz="1200" dirty="0">
                <a:solidFill>
                  <a:srgbClr val="FF0000"/>
                </a:solidFill>
                <a:latin typeface="Times New Roman" panose="02020603050405020304" pitchFamily="18" charset="0"/>
                <a:ea typeface="Source Sans Pro Bold" pitchFamily="34" charset="-122"/>
                <a:cs typeface="Times New Roman" panose="02020603050405020304" pitchFamily="18" charset="0"/>
              </a:rPr>
              <a:t>Ashwin Krishna-2317004</a:t>
            </a:r>
            <a:endParaRPr lang="en" sz="1200" dirty="0">
              <a:solidFill>
                <a:srgbClr val="FF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61" name="Google Shape;61;p13"/>
          <p:cNvSpPr txBox="1"/>
          <p:nvPr/>
        </p:nvSpPr>
        <p:spPr>
          <a:xfrm>
            <a:off x="5534845" y="4663217"/>
            <a:ext cx="2203084" cy="400079"/>
          </a:xfrm>
          <a:prstGeom prst="rect">
            <a:avLst/>
          </a:prstGeom>
          <a:noFill/>
          <a:ln>
            <a:noFill/>
          </a:ln>
        </p:spPr>
        <p:txBody>
          <a:bodyPr spcFirstLastPara="1" wrap="square" lIns="91425" tIns="91425" rIns="91425" bIns="91425" anchor="t" anchorCtr="0">
            <a:spAutoFit/>
          </a:bodyPr>
          <a:lstStyle/>
          <a:p>
            <a:r>
              <a:rPr lang="en-IN" dirty="0">
                <a:solidFill>
                  <a:schemeClr val="dk1"/>
                </a:solidFill>
                <a:latin typeface="Times New Roman"/>
                <a:ea typeface="Times New Roman"/>
                <a:cs typeface="Times New Roman"/>
                <a:sym typeface="Times New Roman"/>
              </a:rPr>
              <a:t>DATE: 16/05/2025</a:t>
            </a:r>
          </a:p>
        </p:txBody>
      </p:sp>
      <p:sp>
        <p:nvSpPr>
          <p:cNvPr id="63" name="Google Shape;63;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latin typeface="Times New Roman" panose="02020603050405020304" pitchFamily="18" charset="0"/>
                <a:cs typeface="Times New Roman" panose="02020603050405020304" pitchFamily="18" charset="0"/>
              </a:rPr>
              <a:pPr marL="0" lvl="0" indent="0" algn="r" rtl="0">
                <a:spcBef>
                  <a:spcPts val="0"/>
                </a:spcBef>
                <a:spcAft>
                  <a:spcPts val="0"/>
                </a:spcAft>
                <a:buNone/>
              </a:pPr>
              <a:t>1</a:t>
            </a:fld>
            <a:endParaRPr>
              <a:latin typeface="Times New Roman" panose="02020603050405020304" pitchFamily="18" charset="0"/>
              <a:cs typeface="Times New Roman" panose="02020603050405020304" pitchFamily="18" charset="0"/>
            </a:endParaRPr>
          </a:p>
        </p:txBody>
      </p:sp>
      <p:sp>
        <p:nvSpPr>
          <p:cNvPr id="3" name="TextBox 2"/>
          <p:cNvSpPr txBox="1"/>
          <p:nvPr/>
        </p:nvSpPr>
        <p:spPr>
          <a:xfrm>
            <a:off x="1516304" y="2256279"/>
            <a:ext cx="5855792" cy="630942"/>
          </a:xfrm>
          <a:prstGeom prst="rect">
            <a:avLst/>
          </a:prstGeom>
          <a:noFill/>
        </p:spPr>
        <p:txBody>
          <a:bodyPr wrap="square" rtlCol="0">
            <a:spAutoFit/>
          </a:bodyPr>
          <a:lstStyle>
            <a:defPPr marR="0" lvl="0" algn="l" rtl="0">
              <a:lnSpc>
                <a:spcPct val="100000"/>
              </a:lnSpc>
              <a:spcBef>
                <a:spcPts val="0"/>
              </a:spcBef>
              <a:spcAft>
                <a:spcPts val="0"/>
              </a:spcAft>
            </a:defPPr>
            <a:lvl1pPr algn="ctr">
              <a:defRPr sz="1700">
                <a:solidFill>
                  <a:srgbClr val="FF0000"/>
                </a:solidFill>
                <a:latin typeface="Times New Roman" panose="02020603050405020304" pitchFamily="18" charset="0"/>
                <a:cs typeface="Times New Roman" pitchFamily="18" charset="0"/>
              </a:defRPr>
            </a:lvl1pPr>
          </a:lstStyle>
          <a:p>
            <a:r>
              <a:rPr lang="en-US" dirty="0"/>
              <a:t>DRIVER DROWSINESS DETECTION</a:t>
            </a:r>
            <a:endParaRPr lang="en-IN" dirty="0"/>
          </a:p>
          <a:p>
            <a:endParaRPr lang="en-US" dirty="0"/>
          </a:p>
        </p:txBody>
      </p:sp>
      <p:sp>
        <p:nvSpPr>
          <p:cNvPr id="2" name="Google Shape;56;p13">
            <a:extLst>
              <a:ext uri="{FF2B5EF4-FFF2-40B4-BE49-F238E27FC236}">
                <a16:creationId xmlns:a16="http://schemas.microsoft.com/office/drawing/2014/main" id="{AD178E11-C3F7-3C3F-2601-65B784B3A5EF}"/>
              </a:ext>
            </a:extLst>
          </p:cNvPr>
          <p:cNvSpPr txBox="1"/>
          <p:nvPr/>
        </p:nvSpPr>
        <p:spPr>
          <a:xfrm>
            <a:off x="1346100" y="792283"/>
            <a:ext cx="6196200"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IN" sz="1800" b="1" dirty="0">
                <a:latin typeface="Times New Roman" panose="02020603050405020304" pitchFamily="18" charset="0"/>
                <a:cs typeface="Times New Roman" panose="02020603050405020304" pitchFamily="18" charset="0"/>
              </a:rPr>
              <a:t>Department of Artificial Intelligence and Data Science</a:t>
            </a:r>
            <a:endParaRPr sz="1800" b="1" dirty="0">
              <a:latin typeface="Times New Roman" panose="02020603050405020304" pitchFamily="18" charset="0"/>
              <a:cs typeface="Times New Roman" panose="02020603050405020304" pitchFamily="18" charset="0"/>
            </a:endParaRPr>
          </a:p>
        </p:txBody>
      </p:sp>
      <p:sp>
        <p:nvSpPr>
          <p:cNvPr id="5" name="Google Shape;60;p13">
            <a:extLst>
              <a:ext uri="{FF2B5EF4-FFF2-40B4-BE49-F238E27FC236}">
                <a16:creationId xmlns:a16="http://schemas.microsoft.com/office/drawing/2014/main" id="{445CBF25-C45E-8C51-49CC-86E7D67B6BB1}"/>
              </a:ext>
            </a:extLst>
          </p:cNvPr>
          <p:cNvSpPr txBox="1"/>
          <p:nvPr/>
        </p:nvSpPr>
        <p:spPr>
          <a:xfrm>
            <a:off x="702725" y="3622362"/>
            <a:ext cx="3227650" cy="73863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IN" sz="1200" dirty="0" err="1">
                <a:solidFill>
                  <a:srgbClr val="FF0000"/>
                </a:solidFill>
                <a:latin typeface="Times New Roman" panose="02020603050405020304" pitchFamily="18" charset="0"/>
                <a:ea typeface="Times New Roman"/>
                <a:cs typeface="Times New Roman" panose="02020603050405020304" pitchFamily="18" charset="0"/>
                <a:sym typeface="Times New Roman"/>
              </a:rPr>
              <a:t>Dr.V.Kalaivani</a:t>
            </a:r>
            <a:r>
              <a:rPr lang="en-IN" sz="1200" dirty="0">
                <a:solidFill>
                  <a:srgbClr val="FF0000"/>
                </a:solidFill>
                <a:latin typeface="Times New Roman" panose="02020603050405020304" pitchFamily="18" charset="0"/>
                <a:ea typeface="Times New Roman"/>
                <a:cs typeface="Times New Roman" panose="02020603050405020304" pitchFamily="18" charset="0"/>
                <a:sym typeface="Times New Roman"/>
              </a:rPr>
              <a:t> HOD/AI&amp;DS</a:t>
            </a:r>
          </a:p>
          <a:p>
            <a:pPr marL="0" lvl="0" indent="0" algn="l" rtl="0">
              <a:spcBef>
                <a:spcPts val="0"/>
              </a:spcBef>
              <a:spcAft>
                <a:spcPts val="0"/>
              </a:spcAft>
              <a:buNone/>
            </a:pPr>
            <a:r>
              <a:rPr lang="en-IN" sz="1200" dirty="0" err="1">
                <a:solidFill>
                  <a:srgbClr val="FF0000"/>
                </a:solidFill>
                <a:latin typeface="Times New Roman" panose="02020603050405020304" pitchFamily="18" charset="0"/>
                <a:ea typeface="Times New Roman"/>
                <a:cs typeface="Times New Roman" panose="02020603050405020304" pitchFamily="18" charset="0"/>
                <a:sym typeface="Times New Roman"/>
              </a:rPr>
              <a:t>Ms.K.Poorani</a:t>
            </a:r>
            <a:r>
              <a:rPr lang="en-IN" sz="1200" dirty="0">
                <a:solidFill>
                  <a:srgbClr val="FF0000"/>
                </a:solidFill>
                <a:latin typeface="Times New Roman" panose="02020603050405020304" pitchFamily="18" charset="0"/>
                <a:ea typeface="Times New Roman"/>
                <a:cs typeface="Times New Roman" panose="02020603050405020304" pitchFamily="18" charset="0"/>
                <a:sym typeface="Times New Roman"/>
              </a:rPr>
              <a:t> AP/AI&amp;DS</a:t>
            </a:r>
          </a:p>
          <a:p>
            <a:pPr marL="0" lvl="0" indent="0" algn="l" rtl="0">
              <a:spcBef>
                <a:spcPts val="0"/>
              </a:spcBef>
              <a:spcAft>
                <a:spcPts val="0"/>
              </a:spcAft>
              <a:buNone/>
            </a:pPr>
            <a:r>
              <a:rPr lang="en-IN" sz="1200" dirty="0" err="1">
                <a:solidFill>
                  <a:srgbClr val="FF0000"/>
                </a:solidFill>
                <a:latin typeface="Times New Roman" panose="02020603050405020304" pitchFamily="18" charset="0"/>
                <a:ea typeface="Times New Roman"/>
                <a:cs typeface="Times New Roman" panose="02020603050405020304" pitchFamily="18" charset="0"/>
                <a:sym typeface="Times New Roman"/>
              </a:rPr>
              <a:t>Ms.V.Veera</a:t>
            </a:r>
            <a:r>
              <a:rPr lang="en-IN" sz="1200" dirty="0">
                <a:solidFill>
                  <a:srgbClr val="FF0000"/>
                </a:solidFill>
                <a:latin typeface="Times New Roman" panose="02020603050405020304" pitchFamily="18" charset="0"/>
                <a:ea typeface="Times New Roman"/>
                <a:cs typeface="Times New Roman" panose="02020603050405020304" pitchFamily="18" charset="0"/>
                <a:sym typeface="Times New Roman"/>
              </a:rPr>
              <a:t> Anusuya AP(SG)/AI&amp;DS</a:t>
            </a:r>
            <a:endParaRPr lang="en" sz="1200" dirty="0">
              <a:solidFill>
                <a:srgbClr val="FF0000"/>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a:latin typeface="Times New Roman"/>
                <a:ea typeface="Times New Roman"/>
                <a:cs typeface="Times New Roman"/>
                <a:sym typeface="Times New Roman"/>
              </a:rPr>
              <a:t>PROBLEM STATEMENT</a:t>
            </a:r>
          </a:p>
        </p:txBody>
      </p:sp>
      <p:sp>
        <p:nvSpPr>
          <p:cNvPr id="76" name="Google Shape;76;p15"/>
          <p:cNvSpPr txBox="1">
            <a:spLocks noGrp="1"/>
          </p:cNvSpPr>
          <p:nvPr>
            <p:ph type="body" idx="1"/>
          </p:nvPr>
        </p:nvSpPr>
        <p:spPr>
          <a:xfrm>
            <a:off x="311700" y="1152475"/>
            <a:ext cx="8709458" cy="1845702"/>
          </a:xfrm>
          <a:prstGeom prst="rect">
            <a:avLst/>
          </a:prstGeom>
        </p:spPr>
        <p:txBody>
          <a:bodyPr spcFirstLastPara="1" wrap="square" lIns="91425" tIns="91425" rIns="91425" bIns="91425" anchor="t" anchorCtr="0">
            <a:normAutofit fontScale="92500"/>
          </a:bodyPr>
          <a:lstStyle/>
          <a:p>
            <a:pPr marL="0" indent="0" algn="just">
              <a:lnSpc>
                <a:spcPct val="150000"/>
              </a:lnSpc>
              <a:spcAft>
                <a:spcPts val="1200"/>
              </a:spcAft>
              <a:buNone/>
            </a:pPr>
            <a:r>
              <a:rPr lang="en-US" sz="1400" b="1" dirty="0">
                <a:solidFill>
                  <a:schemeClr val="tx1"/>
                </a:solidFill>
                <a:latin typeface="Times New Roman" panose="02020603050405020304" pitchFamily="18" charset="0"/>
                <a:cs typeface="Times New Roman" panose="02020603050405020304" pitchFamily="18" charset="0"/>
              </a:rPr>
              <a:t>Coronary Artery Disease (CAD)</a:t>
            </a:r>
            <a:r>
              <a:rPr lang="en-US" sz="1400" dirty="0">
                <a:solidFill>
                  <a:schemeClr val="tx1"/>
                </a:solidFill>
                <a:latin typeface="Times New Roman" panose="02020603050405020304" pitchFamily="18" charset="0"/>
                <a:cs typeface="Times New Roman" panose="02020603050405020304" pitchFamily="18" charset="0"/>
              </a:rPr>
              <a:t> remains a leading cause of mortality worldwide, primarily due to the narrowing or blockage of coronary arteries caused by plaque buildup. Early detection of CAD is crucial to reduce the risk of severe cardiac events such as heart attacks and heart failure. Cardiac Magnetic Resonance Imaging (MRI) is a powerful non-invasive imaging technique that provides high-resolution details of the heart’s structure and function. However, the manual interpretation of cardiac MRI scans is time-consuming, requires specialized expertise, and is prone to variability between radiologists.</a:t>
            </a:r>
            <a:endParaRPr lang="en-US" sz="1400" dirty="0">
              <a:solidFill>
                <a:schemeClr val="tx1"/>
              </a:solidFill>
              <a:latin typeface="Times New Roman" panose="02020603050405020304" pitchFamily="18" charset="0"/>
              <a:ea typeface="Times New Roman"/>
              <a:cs typeface="Times New Roman" pitchFamily="18" charset="0"/>
              <a:sym typeface="Times New Roman"/>
            </a:endParaRPr>
          </a:p>
        </p:txBody>
      </p:sp>
      <p:sp>
        <p:nvSpPr>
          <p:cNvPr id="77" name="Google Shape;77;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latin typeface="Times New Roman"/>
                <a:ea typeface="Times New Roman"/>
                <a:cs typeface="Times New Roman"/>
                <a:sym typeface="Times New Roman"/>
              </a:rPr>
              <a:pPr marL="0" lvl="0" indent="0" algn="r" rtl="0">
                <a:spcBef>
                  <a:spcPts val="0"/>
                </a:spcBef>
                <a:spcAft>
                  <a:spcPts val="0"/>
                </a:spcAft>
                <a:buNone/>
              </a:pPr>
              <a:t>2</a:t>
            </a:fld>
            <a:endParaRPr>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400" b="1" dirty="0">
                <a:latin typeface="Times New Roman" pitchFamily="18" charset="0"/>
                <a:cs typeface="Times New Roman" pitchFamily="18" charset="0"/>
              </a:rPr>
              <a:t>OBJECTIVE</a:t>
            </a:r>
          </a:p>
        </p:txBody>
      </p:sp>
      <p:sp>
        <p:nvSpPr>
          <p:cNvPr id="83" name="Google Shape;83;p16"/>
          <p:cNvSpPr txBox="1">
            <a:spLocks noGrp="1"/>
          </p:cNvSpPr>
          <p:nvPr>
            <p:ph type="body" idx="1"/>
          </p:nvPr>
        </p:nvSpPr>
        <p:spPr>
          <a:xfrm>
            <a:off x="311700" y="1388645"/>
            <a:ext cx="8520600" cy="3416400"/>
          </a:xfrm>
          <a:prstGeom prst="rect">
            <a:avLst/>
          </a:prstGeom>
        </p:spPr>
        <p:txBody>
          <a:bodyPr spcFirstLastPara="1" wrap="square" lIns="91425" tIns="91425" rIns="91425" bIns="91425" anchor="t" anchorCtr="0">
            <a:normAutofit/>
          </a:bodyPr>
          <a:lstStyle/>
          <a:p>
            <a:pPr marL="114300" indent="0">
              <a:buNone/>
            </a:pPr>
            <a:r>
              <a:rPr lang="en-US" sz="1200" dirty="0">
                <a:solidFill>
                  <a:schemeClr val="tx1"/>
                </a:solidFill>
                <a:latin typeface="Times New Roman" panose="02020603050405020304" pitchFamily="18" charset="0"/>
                <a:cs typeface="Times New Roman" panose="02020603050405020304" pitchFamily="18" charset="0"/>
              </a:rPr>
              <a:t>To develop and evaluate a machine learning-based Coronary Artery Disease (CAD) detection system using cardiac MRI scans by training classifiers such as Support Vector Machine (SVM), Random Forest (RF), and Naïve Bayes (NB) on a labeled dataset, and comparing their accuracy with the aim of identifying the most effective model for reliable and early diagnosis to assist clinical decision-making.</a:t>
            </a:r>
          </a:p>
        </p:txBody>
      </p:sp>
      <p:sp>
        <p:nvSpPr>
          <p:cNvPr id="84" name="Google Shape;84;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a:t>
            </a:fld>
            <a:endParaRPr/>
          </a:p>
        </p:txBody>
      </p:sp>
      <p:pic>
        <p:nvPicPr>
          <p:cNvPr id="2" name="Picture 15">
            <a:extLst>
              <a:ext uri="{FF2B5EF4-FFF2-40B4-BE49-F238E27FC236}">
                <a16:creationId xmlns:a16="http://schemas.microsoft.com/office/drawing/2014/main" id="{89B8C50E-DC61-56A7-81B6-9713F4E1AC05}"/>
              </a:ext>
            </a:extLst>
          </p:cNvPr>
          <p:cNvPicPr>
            <a:picLocks noChangeAspect="1"/>
          </p:cNvPicPr>
          <p:nvPr/>
        </p:nvPicPr>
        <p:blipFill>
          <a:blip r:embed="rId3"/>
          <a:stretch>
            <a:fillRect/>
          </a:stretch>
        </p:blipFill>
        <p:spPr>
          <a:xfrm>
            <a:off x="5649213" y="2571750"/>
            <a:ext cx="3032397" cy="2285830"/>
          </a:xfrm>
          <a:prstGeom prst="rect">
            <a:avLst/>
          </a:prstGeom>
          <a:noFill/>
          <a:ln cap="flat">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a:latin typeface="Times New Roman" pitchFamily="18" charset="0"/>
                <a:cs typeface="Times New Roman" pitchFamily="18" charset="0"/>
              </a:rPr>
              <a:t>LITERATURE SURVEY</a:t>
            </a:r>
          </a:p>
        </p:txBody>
      </p:sp>
      <p:sp>
        <p:nvSpPr>
          <p:cNvPr id="91" name="Google Shape;91;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a:t>
            </a:fld>
            <a:endParaRPr/>
          </a:p>
        </p:txBody>
      </p:sp>
      <p:sp>
        <p:nvSpPr>
          <p:cNvPr id="2" name="Text Placeholder 1">
            <a:extLst>
              <a:ext uri="{FF2B5EF4-FFF2-40B4-BE49-F238E27FC236}">
                <a16:creationId xmlns:a16="http://schemas.microsoft.com/office/drawing/2014/main" id="{DFF647A1-BD6E-1AEC-DBAF-53F41EC7C2A1}"/>
              </a:ext>
            </a:extLst>
          </p:cNvPr>
          <p:cNvSpPr>
            <a:spLocks noGrp="1" noChangeArrowheads="1"/>
          </p:cNvSpPr>
          <p:nvPr>
            <p:ph type="body" idx="1"/>
          </p:nvPr>
        </p:nvSpPr>
        <p:spPr bwMode="auto">
          <a:xfrm>
            <a:off x="311700" y="1240539"/>
            <a:ext cx="8393684"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lang="en-US" b="1" dirty="0">
                <a:solidFill>
                  <a:schemeClr val="tx1"/>
                </a:solidFill>
                <a:latin typeface="Times New Roman" panose="02020603050405020304" pitchFamily="18" charset="0"/>
                <a:cs typeface="Times New Roman" panose="02020603050405020304" pitchFamily="18" charset="0"/>
              </a:rPr>
              <a:t>Analysis of Machine Learning Methods for CAD Detection: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lang="en-IN" dirty="0">
                <a:solidFill>
                  <a:schemeClr val="tx1"/>
                </a:solidFill>
                <a:latin typeface="Times New Roman" panose="02020603050405020304" pitchFamily="18" charset="0"/>
                <a:cs typeface="Times New Roman" panose="02020603050405020304" pitchFamily="18" charset="0"/>
              </a:rPr>
              <a:t>Compares various machine learning classifiers including Support Vector Machine (SVM), Random Forest (RF), and Naïve Bayes (NB) applied on cardiac MRI scans. Highlights differences in accuracy, robustness, and computational requirements.</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lang="en-US" b="1" dirty="0">
                <a:solidFill>
                  <a:schemeClr val="tx1"/>
                </a:solidFill>
                <a:latin typeface="Times New Roman" panose="02020603050405020304" pitchFamily="18" charset="0"/>
                <a:cs typeface="Times New Roman" panose="02020603050405020304" pitchFamily="18" charset="0"/>
              </a:rPr>
              <a:t>Machine Learning Approaches for Cardiac MRI Classification: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lang="en-US" sz="1600" dirty="0">
                <a:solidFill>
                  <a:schemeClr val="tx1"/>
                </a:solidFill>
                <a:latin typeface="Times New Roman" panose="02020603050405020304" pitchFamily="18" charset="0"/>
                <a:cs typeface="Times New Roman" panose="02020603050405020304" pitchFamily="18" charset="0"/>
              </a:rPr>
              <a:t>Uses convolutional neural networks (CNNs) for automatic feature extraction and classification of CAD, demonstrating improved accuracy but requiring large labeled datasets and high computational power.</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ClrTx/>
              <a:buSzTx/>
              <a:buNone/>
            </a:pPr>
            <a:r>
              <a:rPr lang="en-IN" b="1" dirty="0">
                <a:solidFill>
                  <a:schemeClr val="tx1"/>
                </a:solidFill>
                <a:latin typeface="Times New Roman" panose="02020603050405020304" pitchFamily="18" charset="0"/>
                <a:cs typeface="Times New Roman" panose="02020603050405020304" pitchFamily="18" charset="0"/>
              </a:rPr>
              <a:t>Ensemble Models for Heart Disease Diagnosis: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lang="en-US" sz="1600" dirty="0">
                <a:solidFill>
                  <a:schemeClr val="tx1"/>
                </a:solidFill>
                <a:latin typeface="Times New Roman" panose="02020603050405020304" pitchFamily="18" charset="0"/>
                <a:cs typeface="Times New Roman" panose="02020603050405020304" pitchFamily="18" charset="0"/>
              </a:rPr>
              <a:t>Combines multiple machine learning algorithms to enhance prediction performance and reduce classification errors, showing better reliability compared to single classifiers.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a:latin typeface="Times New Roman" pitchFamily="18" charset="0"/>
                <a:cs typeface="Times New Roman" pitchFamily="18" charset="0"/>
              </a:rPr>
              <a:t>PROPOSED WORK</a:t>
            </a:r>
          </a:p>
        </p:txBody>
      </p:sp>
      <p:sp>
        <p:nvSpPr>
          <p:cNvPr id="98" name="Google Shape;98;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a:t>
            </a:fld>
            <a:endParaRPr/>
          </a:p>
        </p:txBody>
      </p:sp>
      <p:sp>
        <p:nvSpPr>
          <p:cNvPr id="6" name="TextBox 5">
            <a:extLst>
              <a:ext uri="{FF2B5EF4-FFF2-40B4-BE49-F238E27FC236}">
                <a16:creationId xmlns:a16="http://schemas.microsoft.com/office/drawing/2014/main" id="{DB995B12-1842-FD0F-1445-EFE04E2EA7E4}"/>
              </a:ext>
            </a:extLst>
          </p:cNvPr>
          <p:cNvSpPr txBox="1"/>
          <p:nvPr/>
        </p:nvSpPr>
        <p:spPr>
          <a:xfrm>
            <a:off x="593481" y="1340644"/>
            <a:ext cx="7803173" cy="258532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Make input image size configurable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instead of fixed 128x128 to support different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 batch prediction support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process multiple images at once efficiently.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Build a simple GUI or web app</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users to upload MRI images and see predictions with precautions.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error handling and logging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record issues and give user-friendly messages.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 model loading to support multiple architectures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easier experimentation and upgrades.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a:latin typeface="Times New Roman" pitchFamily="18" charset="0"/>
                <a:cs typeface="Times New Roman" pitchFamily="18" charset="0"/>
              </a:rPr>
              <a:t>PROPOSED MODULES</a:t>
            </a:r>
            <a:br>
              <a:rPr lang="en-US" b="1" dirty="0">
                <a:latin typeface="Times New Roman" pitchFamily="18" charset="0"/>
                <a:cs typeface="Times New Roman" pitchFamily="18" charset="0"/>
              </a:rPr>
            </a:br>
            <a:endParaRPr dirty="0"/>
          </a:p>
        </p:txBody>
      </p:sp>
      <p:sp>
        <p:nvSpPr>
          <p:cNvPr id="105" name="Google Shape;105;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6</a:t>
            </a:fld>
            <a:endParaRPr/>
          </a:p>
        </p:txBody>
      </p:sp>
      <p:graphicFrame>
        <p:nvGraphicFramePr>
          <p:cNvPr id="4" name="Table 3">
            <a:extLst>
              <a:ext uri="{FF2B5EF4-FFF2-40B4-BE49-F238E27FC236}">
                <a16:creationId xmlns:a16="http://schemas.microsoft.com/office/drawing/2014/main" id="{B2DF3236-8D5A-AFB2-9FD7-3D255A67F59A}"/>
              </a:ext>
            </a:extLst>
          </p:cNvPr>
          <p:cNvGraphicFramePr>
            <a:graphicFrameLocks noGrp="1"/>
          </p:cNvGraphicFramePr>
          <p:nvPr>
            <p:extLst>
              <p:ext uri="{D42A27DB-BD31-4B8C-83A1-F6EECF244321}">
                <p14:modId xmlns:p14="http://schemas.microsoft.com/office/powerpoint/2010/main" val="3016577358"/>
              </p:ext>
            </p:extLst>
          </p:nvPr>
        </p:nvGraphicFramePr>
        <p:xfrm>
          <a:off x="883199" y="1402939"/>
          <a:ext cx="5903805" cy="2147468"/>
        </p:xfrm>
        <a:graphic>
          <a:graphicData uri="http://schemas.openxmlformats.org/drawingml/2006/table">
            <a:tbl>
              <a:tblPr firstRow="1" firstCol="1">
                <a:tableStyleId>{FABFCF23-3B69-468F-B69F-88F6DE6A72F2}</a:tableStyleId>
              </a:tblPr>
              <a:tblGrid>
                <a:gridCol w="2187523">
                  <a:extLst>
                    <a:ext uri="{9D8B030D-6E8A-4147-A177-3AD203B41FA5}">
                      <a16:colId xmlns:a16="http://schemas.microsoft.com/office/drawing/2014/main" val="141102803"/>
                    </a:ext>
                  </a:extLst>
                </a:gridCol>
                <a:gridCol w="3716282">
                  <a:extLst>
                    <a:ext uri="{9D8B030D-6E8A-4147-A177-3AD203B41FA5}">
                      <a16:colId xmlns:a16="http://schemas.microsoft.com/office/drawing/2014/main" val="2800635244"/>
                    </a:ext>
                  </a:extLst>
                </a:gridCol>
              </a:tblGrid>
              <a:tr h="304895">
                <a:tc>
                  <a:txBody>
                    <a:bodyPr/>
                    <a:lstStyle/>
                    <a:p>
                      <a:r>
                        <a:rPr lang="en-IN" sz="1100"/>
                        <a:t>Process Step</a:t>
                      </a:r>
                      <a:endParaRPr lang="en-IN" sz="1100" dirty="0"/>
                    </a:p>
                  </a:txBody>
                  <a:tcPr marL="68785" marR="68785" marT="34392" marB="34392" anchor="ctr">
                    <a:lnR w="12700" cap="flat" cmpd="sng" algn="ctr">
                      <a:solidFill>
                        <a:schemeClr val="tx1"/>
                      </a:solidFill>
                      <a:prstDash val="solid"/>
                      <a:round/>
                      <a:headEnd type="none" w="med" len="med"/>
                      <a:tailEnd type="none" w="med" len="med"/>
                    </a:lnR>
                  </a:tcPr>
                </a:tc>
                <a:tc>
                  <a:txBody>
                    <a:bodyPr/>
                    <a:lstStyle/>
                    <a:p>
                      <a:r>
                        <a:rPr lang="en-IN" sz="1100" dirty="0"/>
                        <a:t>Python Modules / Libraries Used</a:t>
                      </a:r>
                    </a:p>
                  </a:txBody>
                  <a:tcPr marL="68785" marR="68785" marT="34392" marB="34392"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786938493"/>
                  </a:ext>
                </a:extLst>
              </a:tr>
              <a:tr h="304895">
                <a:tc>
                  <a:txBody>
                    <a:bodyPr/>
                    <a:lstStyle/>
                    <a:p>
                      <a:r>
                        <a:rPr lang="en-IN" sz="1200" dirty="0"/>
                        <a:t>Data Preprocessing Module</a:t>
                      </a:r>
                    </a:p>
                  </a:txBody>
                  <a:tcPr marL="68785" marR="68785" marT="34392" marB="34392" anchor="ctr">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err="1"/>
                        <a:t>torchvision.transforms</a:t>
                      </a:r>
                      <a:r>
                        <a:rPr lang="en-IN" dirty="0"/>
                        <a:t>,</a:t>
                      </a:r>
                      <a:r>
                        <a:rPr lang="en-IN" sz="1400" b="0" i="0" u="none" strike="noStrike" cap="none" dirty="0">
                          <a:solidFill>
                            <a:schemeClr val="dk1"/>
                          </a:solidFill>
                          <a:effectLst/>
                          <a:latin typeface="+mn-lt"/>
                          <a:ea typeface="+mn-ea"/>
                          <a:cs typeface="+mn-cs"/>
                          <a:sym typeface="Arial"/>
                        </a:rPr>
                        <a:t> PIL, </a:t>
                      </a:r>
                      <a:r>
                        <a:rPr lang="en-IN" sz="1400" b="0" i="0" u="none" strike="noStrike" cap="none" dirty="0" err="1">
                          <a:solidFill>
                            <a:schemeClr val="dk1"/>
                          </a:solidFill>
                          <a:effectLst/>
                          <a:latin typeface="+mn-lt"/>
                          <a:ea typeface="+mn-ea"/>
                          <a:cs typeface="+mn-cs"/>
                          <a:sym typeface="Arial"/>
                        </a:rPr>
                        <a:t>torch.utils.data.Dataset</a:t>
                      </a:r>
                      <a:r>
                        <a:rPr lang="en-IN" sz="1400" b="0" i="0" u="none" strike="noStrike" cap="none" dirty="0">
                          <a:solidFill>
                            <a:schemeClr val="dk1"/>
                          </a:solidFill>
                          <a:effectLst/>
                          <a:latin typeface="+mn-lt"/>
                          <a:ea typeface="+mn-ea"/>
                          <a:cs typeface="+mn-cs"/>
                          <a:sym typeface="Arial"/>
                        </a:rPr>
                        <a:t>, </a:t>
                      </a:r>
                      <a:r>
                        <a:rPr lang="en-IN" sz="1400" b="0" i="0" u="none" strike="noStrike" cap="none" dirty="0" err="1">
                          <a:solidFill>
                            <a:schemeClr val="dk1"/>
                          </a:solidFill>
                          <a:effectLst/>
                          <a:latin typeface="+mn-lt"/>
                          <a:ea typeface="+mn-ea"/>
                          <a:cs typeface="+mn-cs"/>
                          <a:sym typeface="Arial"/>
                        </a:rPr>
                        <a:t>DataLoader</a:t>
                      </a:r>
                      <a:endParaRPr lang="en-IN" sz="1400" b="0" i="0" u="none" strike="noStrike" cap="none" dirty="0">
                        <a:solidFill>
                          <a:schemeClr val="dk1"/>
                        </a:solidFill>
                        <a:effectLst/>
                        <a:latin typeface="+mn-lt"/>
                        <a:ea typeface="+mn-ea"/>
                        <a:cs typeface="+mn-cs"/>
                        <a:sym typeface="Arial"/>
                      </a:endParaRPr>
                    </a:p>
                  </a:txBody>
                  <a:tcPr marL="68785" marR="68785" marT="34392" marB="34392"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688105299"/>
                  </a:ext>
                </a:extLst>
              </a:tr>
              <a:tr h="521087">
                <a:tc>
                  <a:txBody>
                    <a:bodyPr/>
                    <a:lstStyle/>
                    <a:p>
                      <a:r>
                        <a:rPr lang="en-IN" sz="1200" dirty="0"/>
                        <a:t>Model Training Module</a:t>
                      </a:r>
                    </a:p>
                  </a:txBody>
                  <a:tcPr marL="68785" marR="68785" marT="34392" marB="34392" anchor="ctr">
                    <a:lnR w="12700" cap="flat" cmpd="sng" algn="ctr">
                      <a:solidFill>
                        <a:schemeClr val="tx1"/>
                      </a:solidFill>
                      <a:prstDash val="solid"/>
                      <a:round/>
                      <a:headEnd type="none" w="med" len="med"/>
                      <a:tailEnd type="none" w="med" len="med"/>
                    </a:lnR>
                  </a:tcPr>
                </a:tc>
                <a:tc>
                  <a:txBody>
                    <a:bodyPr/>
                    <a:lstStyle/>
                    <a:p>
                      <a:r>
                        <a:rPr lang="en-IN" sz="1200" dirty="0" err="1"/>
                        <a:t>torchvision.models</a:t>
                      </a:r>
                      <a:r>
                        <a:rPr lang="en-IN" sz="1200" dirty="0"/>
                        <a:t>, PIL,</a:t>
                      </a:r>
                      <a:r>
                        <a:rPr lang="en-IN" sz="1200" b="0" dirty="0"/>
                        <a:t> </a:t>
                      </a:r>
                      <a:r>
                        <a:rPr lang="en-IN" sz="1200" b="0" dirty="0" err="1"/>
                        <a:t>torch.nn</a:t>
                      </a:r>
                      <a:r>
                        <a:rPr lang="en-IN" sz="1200" dirty="0"/>
                        <a:t>  </a:t>
                      </a:r>
                    </a:p>
                  </a:txBody>
                  <a:tcPr marL="68785" marR="68785" marT="34392" marB="34392"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835748549"/>
                  </a:ext>
                </a:extLst>
              </a:tr>
              <a:tr h="304895">
                <a:tc>
                  <a:txBody>
                    <a:bodyPr/>
                    <a:lstStyle/>
                    <a:p>
                      <a:r>
                        <a:rPr lang="en-IN" sz="1200" dirty="0"/>
                        <a:t>Prediction Module</a:t>
                      </a:r>
                    </a:p>
                  </a:txBody>
                  <a:tcPr marL="68785" marR="68785" marT="34392" marB="34392" anchor="ctr">
                    <a:lnR w="12700" cap="flat" cmpd="sng" algn="ctr">
                      <a:solidFill>
                        <a:schemeClr val="tx1"/>
                      </a:solidFill>
                      <a:prstDash val="solid"/>
                      <a:round/>
                      <a:headEnd type="none" w="med" len="med"/>
                      <a:tailEnd type="none" w="med" len="med"/>
                    </a:lnR>
                  </a:tcPr>
                </a:tc>
                <a:tc>
                  <a:txBody>
                    <a:bodyPr/>
                    <a:lstStyle/>
                    <a:p>
                      <a:r>
                        <a:rPr lang="en-IN" sz="1200" dirty="0"/>
                        <a:t>PIL,</a:t>
                      </a:r>
                      <a:r>
                        <a:rPr lang="en-IN" sz="1200" b="1" dirty="0"/>
                        <a:t> </a:t>
                      </a:r>
                      <a:r>
                        <a:rPr lang="en-IN" sz="1200" b="0" dirty="0" err="1"/>
                        <a:t>torchvision.models</a:t>
                      </a:r>
                      <a:r>
                        <a:rPr lang="en-IN" sz="1200" dirty="0"/>
                        <a:t> , </a:t>
                      </a:r>
                      <a:r>
                        <a:rPr lang="en-IN" sz="1200" dirty="0" err="1"/>
                        <a:t>tkinter</a:t>
                      </a:r>
                      <a:endParaRPr lang="en-US" sz="1200" dirty="0"/>
                    </a:p>
                  </a:txBody>
                  <a:tcPr marL="68785" marR="68785" marT="34392" marB="34392"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792175886"/>
                  </a:ext>
                </a:extLst>
              </a:tr>
              <a:tr h="521087">
                <a:tc>
                  <a:txBody>
                    <a:bodyPr/>
                    <a:lstStyle/>
                    <a:p>
                      <a:r>
                        <a:rPr lang="en-US" sz="1200" dirty="0"/>
                        <a:t>User interface</a:t>
                      </a:r>
                      <a:endParaRPr lang="en-IN" sz="1200" dirty="0"/>
                    </a:p>
                  </a:txBody>
                  <a:tcPr marL="68785" marR="68785" marT="34392" marB="34392" anchor="ctr">
                    <a:lnR w="12700" cap="flat" cmpd="sng" algn="ctr">
                      <a:solidFill>
                        <a:schemeClr val="tx1"/>
                      </a:solidFill>
                      <a:prstDash val="solid"/>
                      <a:round/>
                      <a:headEnd type="none" w="med" len="med"/>
                      <a:tailEnd type="none" w="med" len="med"/>
                    </a:lnR>
                  </a:tcPr>
                </a:tc>
                <a:tc>
                  <a:txBody>
                    <a:bodyPr/>
                    <a:lstStyle/>
                    <a:p>
                      <a:r>
                        <a:rPr lang="en-IN" sz="1200" dirty="0" err="1"/>
                        <a:t>Streamlit,</a:t>
                      </a:r>
                      <a:r>
                        <a:rPr lang="en-IN" sz="1200" b="0" dirty="0" err="1"/>
                        <a:t>utils.model_utils</a:t>
                      </a:r>
                      <a:r>
                        <a:rPr lang="en-IN" sz="1200" b="0" dirty="0"/>
                        <a:t> </a:t>
                      </a:r>
                      <a:endParaRPr lang="en-US" sz="1200" b="0" dirty="0"/>
                    </a:p>
                  </a:txBody>
                  <a:tcPr marL="68785" marR="68785" marT="34392" marB="34392"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417508158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a:latin typeface="Times New Roman" pitchFamily="18" charset="0"/>
                <a:cs typeface="Times New Roman" pitchFamily="18" charset="0"/>
              </a:rPr>
              <a:t>RESULT ANALYSIS</a:t>
            </a:r>
          </a:p>
        </p:txBody>
      </p:sp>
      <p:sp>
        <p:nvSpPr>
          <p:cNvPr id="119" name="Google Shape;119;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7</a:t>
            </a:fld>
            <a:endParaRPr/>
          </a:p>
        </p:txBody>
      </p:sp>
      <p:sp>
        <p:nvSpPr>
          <p:cNvPr id="2" name="Google Shape;158;p18">
            <a:extLst>
              <a:ext uri="{FF2B5EF4-FFF2-40B4-BE49-F238E27FC236}">
                <a16:creationId xmlns:a16="http://schemas.microsoft.com/office/drawing/2014/main" id="{DD14DBF1-8F6E-E51C-DDA4-1DA04434DD7F}"/>
              </a:ext>
            </a:extLst>
          </p:cNvPr>
          <p:cNvSpPr txBox="1"/>
          <p:nvPr/>
        </p:nvSpPr>
        <p:spPr>
          <a:xfrm>
            <a:off x="575771" y="1339959"/>
            <a:ext cx="7992458" cy="1708160"/>
          </a:xfrm>
          <a:prstGeom prst="rect">
            <a:avLst/>
          </a:prstGeom>
          <a:noFill/>
          <a:ln>
            <a:noFill/>
          </a:ln>
        </p:spPr>
        <p:txBody>
          <a:bodyPr spcFirstLastPara="1" wrap="square" lIns="0" tIns="0" rIns="0" bIns="0" anchor="t" anchorCtr="0">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lang="en-US" sz="1800" b="1" dirty="0">
                <a:latin typeface="Times New Roman" panose="02020603050405020304" pitchFamily="18" charset="0"/>
                <a:cs typeface="Times New Roman" panose="02020603050405020304" pitchFamily="18" charset="0"/>
              </a:rPr>
              <a:t>Up to 85% accuracy</a:t>
            </a:r>
            <a:r>
              <a:rPr lang="en-US" sz="1800" dirty="0">
                <a:latin typeface="Times New Roman" panose="02020603050405020304" pitchFamily="18" charset="0"/>
                <a:cs typeface="Times New Roman" panose="02020603050405020304" pitchFamily="18" charset="0"/>
              </a:rPr>
              <a:t> in detecting heart disease from MRI scans.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50% faster emergency response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minimizing fatalities.</a:t>
            </a:r>
          </a:p>
          <a:p>
            <a:pPr marL="0" marR="0" lvl="0" indent="0" algn="l" defTabSz="914400" rtl="0" eaLnBrk="0" fontAlgn="base" latinLnBrk="0" hangingPunct="0">
              <a:lnSpc>
                <a:spcPct val="150000"/>
              </a:lnSpc>
              <a:spcBef>
                <a:spcPct val="0"/>
              </a:spcBef>
              <a:spcAft>
                <a:spcPct val="0"/>
              </a:spcAft>
              <a:buClrTx/>
              <a:buSzTx/>
              <a:buFontTx/>
              <a:buChar char="•"/>
              <a:tabLst/>
            </a:pPr>
            <a:r>
              <a:rPr lang="en-US" sz="1800" b="1" dirty="0">
                <a:latin typeface="Times New Roman" panose="02020603050405020304" pitchFamily="18" charset="0"/>
                <a:cs typeface="Times New Roman" panose="02020603050405020304" pitchFamily="18" charset="0"/>
              </a:rPr>
              <a:t>Personalized precautionary</a:t>
            </a:r>
            <a:r>
              <a:rPr lang="en-US" sz="1800" dirty="0">
                <a:latin typeface="Times New Roman" panose="02020603050405020304" pitchFamily="18" charset="0"/>
                <a:cs typeface="Times New Roman" panose="02020603050405020304" pitchFamily="18" charset="0"/>
              </a:rPr>
              <a:t> advice improves patient awareness and preventive care.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lang="en-US" sz="1800" b="1" dirty="0">
                <a:latin typeface="Times New Roman" panose="02020603050405020304" pitchFamily="18" charset="0"/>
                <a:cs typeface="Times New Roman" panose="02020603050405020304" pitchFamily="18" charset="0"/>
              </a:rPr>
              <a:t>Robust model compatible</a:t>
            </a:r>
            <a:r>
              <a:rPr lang="en-US" sz="1800" dirty="0">
                <a:latin typeface="Times New Roman" panose="02020603050405020304" pitchFamily="18" charset="0"/>
                <a:cs typeface="Times New Roman" panose="02020603050405020304" pitchFamily="18" charset="0"/>
              </a:rPr>
              <a:t> with multiple MRI devices and image types.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a:latin typeface="Times New Roman" pitchFamily="18" charset="0"/>
                <a:cs typeface="Times New Roman" pitchFamily="18" charset="0"/>
              </a:rPr>
              <a:t>CONCLUSION</a:t>
            </a:r>
          </a:p>
        </p:txBody>
      </p:sp>
      <p:sp>
        <p:nvSpPr>
          <p:cNvPr id="132" name="Google Shape;132;p23"/>
          <p:cNvSpPr txBox="1">
            <a:spLocks noGrp="1"/>
          </p:cNvSpPr>
          <p:nvPr>
            <p:ph type="body" idx="1"/>
          </p:nvPr>
        </p:nvSpPr>
        <p:spPr>
          <a:xfrm>
            <a:off x="384015" y="1017725"/>
            <a:ext cx="8088443" cy="1334217"/>
          </a:xfrm>
          <a:prstGeom prst="rect">
            <a:avLst/>
          </a:prstGeom>
        </p:spPr>
        <p:txBody>
          <a:bodyPr spcFirstLastPara="1" wrap="square" lIns="91425" tIns="91425" rIns="91425" bIns="91425" anchor="t" anchorCtr="0">
            <a:normAutofit/>
          </a:bodyPr>
          <a:lstStyle/>
          <a:p>
            <a:pPr marL="0" indent="0" algn="just">
              <a:spcAft>
                <a:spcPts val="1200"/>
              </a:spcAft>
              <a:buNone/>
            </a:pPr>
            <a:r>
              <a:rPr lang="en-US" sz="1200" dirty="0">
                <a:solidFill>
                  <a:schemeClr val="tx1"/>
                </a:solidFill>
                <a:latin typeface="Times New Roman" panose="02020603050405020304" pitchFamily="18" charset="0"/>
                <a:cs typeface="Times New Roman" panose="02020603050405020304" pitchFamily="18" charset="0"/>
              </a:rPr>
              <a:t>The developed MRI prediction system leverages machine learning with </a:t>
            </a:r>
            <a:r>
              <a:rPr lang="en-US" sz="1200" dirty="0" err="1">
                <a:solidFill>
                  <a:schemeClr val="tx1"/>
                </a:solidFill>
                <a:latin typeface="Times New Roman" panose="02020603050405020304" pitchFamily="18" charset="0"/>
                <a:cs typeface="Times New Roman" panose="02020603050405020304" pitchFamily="18" charset="0"/>
              </a:rPr>
              <a:t>EfficientNet</a:t>
            </a:r>
            <a:r>
              <a:rPr lang="en-US" sz="1200" dirty="0">
                <a:solidFill>
                  <a:schemeClr val="tx1"/>
                </a:solidFill>
                <a:latin typeface="Times New Roman" panose="02020603050405020304" pitchFamily="18" charset="0"/>
                <a:cs typeface="Times New Roman" panose="02020603050405020304" pitchFamily="18" charset="0"/>
              </a:rPr>
              <a:t> to accurately classify heart conditions as normal or sick. By integrating a user-friendly interface through </a:t>
            </a:r>
            <a:r>
              <a:rPr lang="en-US" sz="1200" dirty="0" err="1">
                <a:solidFill>
                  <a:schemeClr val="tx1"/>
                </a:solidFill>
                <a:latin typeface="Times New Roman" panose="02020603050405020304" pitchFamily="18" charset="0"/>
                <a:cs typeface="Times New Roman" panose="02020603050405020304" pitchFamily="18" charset="0"/>
              </a:rPr>
              <a:t>Streamlit</a:t>
            </a:r>
            <a:r>
              <a:rPr lang="en-US" sz="1200" dirty="0">
                <a:solidFill>
                  <a:schemeClr val="tx1"/>
                </a:solidFill>
                <a:latin typeface="Times New Roman" panose="02020603050405020304" pitchFamily="18" charset="0"/>
                <a:cs typeface="Times New Roman" panose="02020603050405020304" pitchFamily="18" charset="0"/>
              </a:rPr>
              <a:t>, it enables easy image uploads and delivers quick, reliable predictions along with personalized precautionary advice. This solution enhances early detection of heart diseases, potentially improving patient outcomes and supporting medical decision-making in a cost-effective and accessible manner.</a:t>
            </a:r>
          </a:p>
          <a:p>
            <a:pPr marL="0" indent="0" algn="just">
              <a:spcAft>
                <a:spcPts val="1200"/>
              </a:spcAft>
              <a:buNone/>
            </a:pPr>
            <a:endParaRPr sz="1200" dirty="0">
              <a:solidFill>
                <a:schemeClr val="tx1"/>
              </a:solidFill>
              <a:latin typeface="Times New Roman"/>
            </a:endParaRPr>
          </a:p>
        </p:txBody>
      </p:sp>
      <p:sp>
        <p:nvSpPr>
          <p:cNvPr id="133" name="Google Shape;133;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8</a:t>
            </a:fld>
            <a:endParaRPr/>
          </a:p>
        </p:txBody>
      </p:sp>
      <p:sp>
        <p:nvSpPr>
          <p:cNvPr id="2" name="TextBox 1">
            <a:extLst>
              <a:ext uri="{FF2B5EF4-FFF2-40B4-BE49-F238E27FC236}">
                <a16:creationId xmlns:a16="http://schemas.microsoft.com/office/drawing/2014/main" id="{6620DE97-C430-552A-40A2-844483E0159E}"/>
              </a:ext>
            </a:extLst>
          </p:cNvPr>
          <p:cNvSpPr txBox="1"/>
          <p:nvPr/>
        </p:nvSpPr>
        <p:spPr>
          <a:xfrm>
            <a:off x="379141" y="2163309"/>
            <a:ext cx="7002966" cy="830997"/>
          </a:xfrm>
          <a:prstGeom prst="rect">
            <a:avLst/>
          </a:prstGeom>
          <a:noFill/>
        </p:spPr>
        <p:txBody>
          <a:bodyPr wrap="square" rtlCol="0">
            <a:spAutoFit/>
          </a:bodyPr>
          <a:lstStyle/>
          <a:p>
            <a:endParaRPr lang="en-IN" sz="24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FUTURE WORK</a:t>
            </a:r>
          </a:p>
        </p:txBody>
      </p:sp>
      <p:sp>
        <p:nvSpPr>
          <p:cNvPr id="3" name="TextBox 2">
            <a:extLst>
              <a:ext uri="{FF2B5EF4-FFF2-40B4-BE49-F238E27FC236}">
                <a16:creationId xmlns:a16="http://schemas.microsoft.com/office/drawing/2014/main" id="{658D62D7-0060-21DD-394B-7143C5FC6704}"/>
              </a:ext>
            </a:extLst>
          </p:cNvPr>
          <p:cNvSpPr txBox="1"/>
          <p:nvPr/>
        </p:nvSpPr>
        <p:spPr>
          <a:xfrm>
            <a:off x="475784" y="3029080"/>
            <a:ext cx="6527181" cy="1346074"/>
          </a:xfrm>
          <a:prstGeom prst="rect">
            <a:avLst/>
          </a:prstGeom>
          <a:noFill/>
        </p:spPr>
        <p:txBody>
          <a:bodyPr wrap="square" rtlCol="0">
            <a:spAutoFit/>
          </a:bodyPr>
          <a:lstStyle/>
          <a:p>
            <a:pPr marL="285750" indent="-285750">
              <a:lnSpc>
                <a:spcPct val="150000"/>
              </a:lnSpc>
              <a:buClr>
                <a:schemeClr val="tx1"/>
              </a:buClr>
              <a:buFont typeface="Wingdings" panose="05000000000000000000" pitchFamily="2" charset="2"/>
              <a:buChar char="q"/>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Integration of Medical History: Integrate a medical history database to provide better predictions by considering factors like age, lifestyle, and existing health conditions</a:t>
            </a:r>
            <a:endParaRPr lang="en-US" dirty="0">
              <a:solidFill>
                <a:schemeClr val="tx1"/>
              </a:solidFill>
            </a:endParaRPr>
          </a:p>
          <a:p>
            <a:pPr marL="285750" indent="-285750">
              <a:lnSpc>
                <a:spcPct val="150000"/>
              </a:lnSpc>
              <a:buClr>
                <a:schemeClr val="tx1"/>
              </a:buClr>
              <a:buFont typeface="Wingdings" panose="05000000000000000000" pitchFamily="2" charset="2"/>
              <a:buChar char="q"/>
            </a:pPr>
            <a:r>
              <a:rPr lang="en-IN" dirty="0">
                <a:solidFill>
                  <a:schemeClr val="tx1"/>
                </a:solidFill>
                <a:latin typeface="Times New Roman" panose="02020603050405020304" pitchFamily="18" charset="0"/>
                <a:cs typeface="Times New Roman" panose="02020603050405020304" pitchFamily="18" charset="0"/>
              </a:rPr>
              <a:t>Model Optimization</a:t>
            </a:r>
            <a:r>
              <a:rPr lang="en-IN" dirty="0">
                <a:solidFill>
                  <a:schemeClr val="tx1"/>
                </a:solidFill>
              </a:rPr>
              <a:t>:</a:t>
            </a: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 Fine-tune the model with more heart disease-specific MRI data to improve accuracy and generalization.</a:t>
            </a:r>
            <a:endParaRPr lang="en-IN" dirty="0">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a:latin typeface="Times New Roman" pitchFamily="18" charset="0"/>
                <a:cs typeface="Times New Roman" pitchFamily="18" charset="0"/>
              </a:rPr>
              <a:t>REFERENCES</a:t>
            </a:r>
          </a:p>
        </p:txBody>
      </p:sp>
      <p:sp>
        <p:nvSpPr>
          <p:cNvPr id="139" name="Google Shape;139;p24"/>
          <p:cNvSpPr txBox="1">
            <a:spLocks noGrp="1"/>
          </p:cNvSpPr>
          <p:nvPr>
            <p:ph type="body" idx="1"/>
          </p:nvPr>
        </p:nvSpPr>
        <p:spPr>
          <a:xfrm>
            <a:off x="432813" y="1261476"/>
            <a:ext cx="8520600" cy="3416400"/>
          </a:xfrm>
          <a:prstGeom prst="rect">
            <a:avLst/>
          </a:prstGeom>
        </p:spPr>
        <p:txBody>
          <a:bodyPr spcFirstLastPara="1" wrap="square" lIns="91425" tIns="91425" rIns="91425" bIns="91425" anchor="t" anchorCtr="0">
            <a:normAutofit/>
          </a:bodyPr>
          <a:lstStyle/>
          <a:p>
            <a:pPr marL="0" lvl="0" indent="0" algn="just" rtl="0">
              <a:spcBef>
                <a:spcPts val="0"/>
              </a:spcBef>
              <a:spcAft>
                <a:spcPts val="1200"/>
              </a:spcAft>
              <a:buNone/>
            </a:pPr>
            <a:r>
              <a:rPr lang="en-US" sz="1600" dirty="0">
                <a:solidFill>
                  <a:schemeClr val="tx1"/>
                </a:solidFill>
                <a:latin typeface="Times New Roman" panose="02020603050405020304" pitchFamily="18" charset="0"/>
                <a:cs typeface="Times New Roman" panose="02020603050405020304" pitchFamily="18" charset="0"/>
              </a:rPr>
              <a:t>[1] </a:t>
            </a:r>
            <a:r>
              <a:rPr lang="en-IN" sz="1600" dirty="0">
                <a:solidFill>
                  <a:schemeClr val="tx1"/>
                </a:solidFill>
                <a:latin typeface="Times New Roman" panose="02020603050405020304" pitchFamily="18" charset="0"/>
                <a:cs typeface="Times New Roman" panose="02020603050405020304" pitchFamily="18" charset="0"/>
              </a:rPr>
              <a:t>C. Yang,</a:t>
            </a:r>
            <a:r>
              <a:rPr lang="en-US" sz="1400" dirty="0">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Baoran</a:t>
            </a:r>
            <a:r>
              <a:rPr lang="en-US" sz="1400" dirty="0">
                <a:solidFill>
                  <a:schemeClr val="tx1"/>
                </a:solidFill>
                <a:latin typeface="Times New Roman" panose="02020603050405020304" pitchFamily="18" charset="0"/>
                <a:cs typeface="Times New Roman" panose="02020603050405020304" pitchFamily="18" charset="0"/>
              </a:rPr>
              <a:t> An and Shen Yin</a:t>
            </a:r>
            <a:r>
              <a:rPr lang="en-IN" sz="1600" dirty="0">
                <a:solidFill>
                  <a:schemeClr val="tx1"/>
                </a:solidFill>
                <a:latin typeface="Times New Roman" panose="02020603050405020304" pitchFamily="18" charset="0"/>
                <a:cs typeface="Times New Roman" panose="02020603050405020304" pitchFamily="18" charset="0"/>
              </a:rPr>
              <a:t>, "Heart-Disease Diagnosis via Support Vector Machine-Based Approaches," in </a:t>
            </a:r>
            <a:r>
              <a:rPr lang="en-IN" sz="1600" i="1" dirty="0">
                <a:solidFill>
                  <a:schemeClr val="tx1"/>
                </a:solidFill>
                <a:latin typeface="Times New Roman" panose="02020603050405020304" pitchFamily="18" charset="0"/>
                <a:cs typeface="Times New Roman" panose="02020603050405020304" pitchFamily="18" charset="0"/>
              </a:rPr>
              <a:t>Proc. 2018</a:t>
            </a:r>
            <a:r>
              <a:rPr lang="en-IN" sz="1600" dirty="0">
                <a:solidFill>
                  <a:schemeClr val="tx1"/>
                </a:solidFill>
                <a:latin typeface="Times New Roman" panose="02020603050405020304" pitchFamily="18" charset="0"/>
                <a:cs typeface="Times New Roman" panose="02020603050405020304" pitchFamily="18" charset="0"/>
              </a:rPr>
              <a:t>.</a:t>
            </a:r>
          </a:p>
          <a:p>
            <a:pPr marL="0" lvl="0" indent="0" algn="just" rtl="0">
              <a:spcBef>
                <a:spcPts val="0"/>
              </a:spcBef>
              <a:spcAft>
                <a:spcPts val="1200"/>
              </a:spcAft>
              <a:buNone/>
            </a:pPr>
            <a:r>
              <a:rPr lang="en-IN" sz="1600" dirty="0">
                <a:solidFill>
                  <a:schemeClr val="tx1"/>
                </a:solidFill>
                <a:latin typeface="Times New Roman" panose="02020603050405020304" pitchFamily="18" charset="0"/>
                <a:cs typeface="Times New Roman" panose="02020603050405020304" pitchFamily="18" charset="0"/>
              </a:rPr>
              <a:t>[2] R. Bhuvana, S. Maheshwari, and S. Sasikala, “Predict the Heart Disease Using a Logistic Regression Classifier Algorithm,” </a:t>
            </a:r>
            <a:r>
              <a:rPr lang="en-IN" sz="1600" i="1" dirty="0">
                <a:solidFill>
                  <a:schemeClr val="tx1"/>
                </a:solidFill>
                <a:latin typeface="Times New Roman" panose="02020603050405020304" pitchFamily="18" charset="0"/>
                <a:cs typeface="Times New Roman" panose="02020603050405020304" pitchFamily="18" charset="0"/>
              </a:rPr>
              <a:t>2023</a:t>
            </a:r>
            <a:endParaRPr lang="en-US" dirty="0">
              <a:solidFill>
                <a:schemeClr val="tx1"/>
              </a:solidFill>
              <a:latin typeface="Times New Roman"/>
            </a:endParaRPr>
          </a:p>
        </p:txBody>
      </p:sp>
      <p:sp>
        <p:nvSpPr>
          <p:cNvPr id="140" name="Google Shape;140;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9</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1113</TotalTime>
  <Words>728</Words>
  <Application>Microsoft Office PowerPoint</Application>
  <PresentationFormat>On-screen Show (16:9)</PresentationFormat>
  <Paragraphs>60</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Times New Roman</vt:lpstr>
      <vt:lpstr>Wingdings</vt:lpstr>
      <vt:lpstr>Simple Light</vt:lpstr>
      <vt:lpstr>PowerPoint Presentation</vt:lpstr>
      <vt:lpstr>PROBLEM STATEMENT</vt:lpstr>
      <vt:lpstr>OBJECTIVE</vt:lpstr>
      <vt:lpstr>LITERATURE SURVEY</vt:lpstr>
      <vt:lpstr>PROPOSED WORK</vt:lpstr>
      <vt:lpstr>PROPOSED MODULES </vt:lpstr>
      <vt:lpstr>RESULT ANALYSIS</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CSET024</dc:creator>
  <cp:lastModifiedBy>G. PRAKASH</cp:lastModifiedBy>
  <cp:revision>24</cp:revision>
  <dcterms:modified xsi:type="dcterms:W3CDTF">2025-05-15T16:30:46Z</dcterms:modified>
</cp:coreProperties>
</file>